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2926080"/>
            <a:ext cx="4206240" cy="4206240"/>
          </a:xfrm>
          <a:prstGeom prst="ellipse">
            <a:avLst/>
          </a:prstGeom>
          <a:solidFill>
            <a:srgbClr val="79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marca-b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85800"/>
            <a:ext cx="1212112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BFAE99"/>
                </a:solidFill>
                <a:latin typeface="Calibri"/>
              </a:rPr>
              <a:t>PARADIGMAS DE LINGUAGENS DE PROGRAMAÇÃO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F7F3EE"/>
                </a:solidFill>
                <a:latin typeface="Georgia"/>
              </a:rPr>
              <a:t>Programação
Funcional em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D6CEC2"/>
                </a:solidFill>
                <a:latin typeface="Calibri"/>
              </a:rPr>
              <a:t>Do paradigma à prática — estudo de caso de um sistema real em produção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37760"/>
            <a:ext cx="4206240" cy="960120"/>
          </a:xfrm>
          <a:prstGeom prst="roundRect">
            <a:avLst>
              <a:gd name="adj" fmla="val 6000"/>
            </a:avLst>
          </a:prstGeom>
          <a:solidFill>
            <a:srgbClr val="33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201168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7F3EE"/>
                </a:solidFill>
                <a:latin typeface="Calibri"/>
              </a:rPr>
              <a:t>Juliano Freitas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9C0B2"/>
                </a:solidFill>
                <a:latin typeface="Calibri"/>
              </a:rPr>
              <a:t>Faculdade Nova Roma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caminho de hoje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O que é e por que importa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73593" y="20299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Os pilares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7106" y="20299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Funções como valores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0619" y="20299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04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Ferramental do dia a 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74132" y="20299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05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functools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587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06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Closures e decoradores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3593" y="38587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07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Avaliação preguiçosa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7106" y="38587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08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Recursão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0619" y="38587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09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Estudo de caso: o projeto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74132" y="3858768"/>
            <a:ext cx="197748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10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PF × imperativo e limites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47"/>
                </a:solidFill>
                <a:latin typeface="Calibri"/>
              </a:rPr>
              <a:t>No caminho, três pausas com dicas práticas de Python.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Ao final, você será capaz de: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Identificar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Reconhecer código funcional em Python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2602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Escrever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Aplicar funções puras, HOFs e decoradores.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5124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Justificar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Explicar por que ajuda — e onde não compensa.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47"/>
                </a:solidFill>
                <a:latin typeface="Calibri"/>
              </a:rPr>
              <a:t>Cada conceito aparece em código que roda, no projeto Ponte Italia.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O que é e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Paradigmas, origem e a ideia central da programação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1 · PARADIGMAS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Duas formas de dizer a mesma coisa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C3A2E"/>
                </a:solidFill>
                <a:latin typeface="Calibri"/>
              </a:rPr>
              <a:t>Imperativo — COMO fazer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78608"/>
            <a:ext cx="5318607" cy="126187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0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for n in numeros: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total +=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Funcional — O QUE se quer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578608"/>
            <a:ext cx="5318607" cy="126187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sum(numeros)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440680"/>
            <a:ext cx="10911535" cy="822960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Estilo declarativo: compomos funções em vez de encadear comandos que alteram variáveis.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1 · ORIGEM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Do cálculo-λ ao Python de hoje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2535859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1936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Cálculo-λ: Church formaliza computação só com funções.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029968"/>
            <a:ext cx="2535859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1958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Lisp: McCarthy traz funções como dados e recursão.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2" y="2029968"/>
            <a:ext cx="2535859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1990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Haskell: puramente funcional, com avaliação preguiçosa.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753" y="2029968"/>
            <a:ext cx="2535859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Hoje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Python: multiparadigma — map, lambda, functools.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1 · IDEIA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Três compromissos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1 · Funções no centro — o programa é avaliação e composição de funções.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88336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2 · Evitar estado mutável — em vez de alterar, produzir um novo valor.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46704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3 · Sem efeitos colaterais — a função conversa pelo retorno.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1 · HONESTIDADE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Python não é Haskell — e tudo bem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5327751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Funcional onde calcula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Regras de negócio e transformação de dados.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2029968"/>
            <a:ext cx="5327751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Imperativo nas bordas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Banco, HTTP, arquivos e relógio.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911535" cy="77724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Não é ser 100% funcional — é usar o estilo ONDE ele paga.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Os pilares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Pureza, efeitos colaterais, imutabilidade e transparência referencial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PILAR 1 · PUREZA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Função pura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31012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pura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dobro(x):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x * 2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impura: depende de estado externo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0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acumula(x):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global total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total += x      # efeito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31012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Três marcas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Mesma entrada, mesma saída, sempre.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Não lê nem altera nada fora dela.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Depende só dos argumentos.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PILAR 2 · EFEITOS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que é um efeito colateral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Mutar estado externo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Variável global, lista compartilhada.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2602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I/O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Imprimir, ler banco, chamar a rede.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5124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Depender do ambiente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Hora atual, número aleatório.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86400"/>
            <a:ext cx="10911535" cy="777240"/>
          </a:xfrm>
          <a:prstGeom prst="roundRect">
            <a:avLst>
              <a:gd name="adj" fmla="val 6000"/>
            </a:avLst>
          </a:prstGeom>
          <a:solidFill>
            <a:srgbClr val="F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C3A2E"/>
                </a:solidFill>
                <a:latin typeface="Calibri"/>
              </a:rPr>
              <a:t>Efeitos não são proibidos — são empurrados para as BORDAS.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PILAR 3 · IMUTABILIDADE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Não altero — crio um novo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01752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from dataclasses import dataclass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@dataclass(frozen=True)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class DocumentoResumo: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categoria: Categoria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status: Status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 = DocumentoResumo(cat, ok)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d.status = venc   # ERRO: congelado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01752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Como se faz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tuple, frozenset, str já são imutáveis.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frozen=True: objetos que não mudam.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Sem mutação = sem bug de estado compartilhado.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PILAR 4 · TRANSPARÊNCIA REFERENCIAL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Trocar a chamada pelo seu valor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432304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preco(3)  -&gt;  15.0        # sempre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então estas duas linhas são iguais: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preco(3) + preco(3)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p = preco(3)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p + 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432304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Por que importa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Raciocinar sobre o código como em álgebra.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Habilita cache seguro (memoização).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Permite paralelizar sem travas.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É a propriedade que só funções puras têm — e a base dos slides de lru_cache mais à frente.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FUNÇÃO PURA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calcular_status: o relógio entra pela porta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895344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calcular_status(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validade: date | None,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hoje: date,          # injetado!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janela: int = 30,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) -&gt; StatusDocumento: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validade is None: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Status.OK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validade &lt; hoje: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Status.VENCIDO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validade &lt;= hoje + dias(janela):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Status.VENCENDO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Status.OK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895344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Por que é pura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hoje é parâmetro, não datetime.now().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status não é gravado: é derivado na leitura.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Testável sem relógio, sem mock, sem banco.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PILARES · CONSEQUÊNCIAS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Três ganhos que caem no seu colo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Testabilidade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Um teste = três linhas. Sem mock, sem banco.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2602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Concorrência segura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Sem estado compartilhado, ninguém colide.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5124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Raciocínio local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A regra cabe na tela; nada acontece à distância.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79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7F3EE"/>
                </a:solidFill>
                <a:latin typeface="Calibri"/>
              </a:rPr>
              <a:t>DICA PESSOAL DE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Deixe as ferramentas vigiarem por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ruff (lint) + black (formatação) + mypy (tipos) rodando no CI desde o dia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No projeto os três rodam em todo push: 188 testes e zero erro de tipo.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mypy --strict pegou um bug real que passaria despercebido em revisão.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Custo: 10 minutos de configuração. Retorno: o resto do semestre.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Funções como valores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Primeira classe, funções de alta ordem e composição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3 · PRIMEIRA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Funções são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01752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dobro(x): return x * 2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 = dobro          # sem parênteses!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f(10)              # 20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ops = {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"x2": dobro,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"neg": lambda x: -x,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01752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O que dá para fazer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Guardar em variável, lista ou dicionário.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Passar como argumento.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Retornar de outra função.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3 · ALTA ORDEM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Funções de alta ordem (HOF)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155448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map, filter e sorted já são HOFs: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list(map(str.upper, nomes))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list(filter(lambda n: n.ativo, users))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sorted(cursos, key=lambda c: c.prazo)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HOF = uma função que recebe outra função como argumento e/ou devolve uma função.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PRIMEIRA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registry de parsers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72491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scraper/sources/__init__.py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PARSERS = {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"universitaly": parser_universitaly,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"google_news": parser_google_news,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a função é escolhida pelo NOME: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universidades = PARSERS[fonte](html)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72491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O ganho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Zero if fonte == '...' espalhado.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Fonte nova = uma linha no dicionário.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código de coleta nunca muda.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HOF + COMPOSIÇÃO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agrupar_por_categoria recebe a chave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602736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agrupar_por_categoria(itens, chave):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{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cat: tuple(i for i in itens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 if chave(i) == cat)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cat in Categoria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a MESMA função serve documentos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e requisitos: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agrupar_por_categoria(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docs, lambda d: d.categoria)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602736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Composição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 função de extração entra por parâmetro.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agrupamento não conhece o tipo concreto.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Peças puras se encaixam: status →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Ferramental do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lambda, map, filter e comprehensions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4 · LAMBDA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Função anônima, curtinha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184708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quadrado = lambda x: x ** 2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quadrado(5)      # 25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uso típico: argumento inline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sorted(cursos, key=lambda c: c.prazo)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184708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PEP 8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lambda só inline, como argumento.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Precisa de nome? Use def.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Uma expressão: sem if/for de bloco.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4 · MAP E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Transformar e selecionar sem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map — transforma cada item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78608"/>
            <a:ext cx="5318607" cy="155448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list(map(str.strip, linhas))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equivale a: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[s.strip() for s in linhas]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C3A2E"/>
                </a:solidFill>
                <a:latin typeface="Calibri"/>
              </a:rPr>
              <a:t>filter — mantém quem passa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578608"/>
            <a:ext cx="5318607" cy="155448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list(filter(eh_valida, urls))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equivale a: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[u for u in urls if eh_valida(u)]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440680"/>
            <a:ext cx="10911535" cy="822960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Em Python, a comprehension costuma ser a forma mais legível. map/filter ganham quando a função já existe e tem nome.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LAMBDA + SORTED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ordenar_por_prazo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72491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ordenar_por_prazo(cursos, prazo_de):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tuple(sorted(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cursos,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key=lambda c: 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prazo_de(c) is None,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prazo_de(c) or date.max,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),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72491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A regra na chave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Quem tem prazo vem antes.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Prazo mais próximo primeiro.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prazo_de é injetado: serve a vários tipos.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4 · COMPREHENSIONS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jeito pythônico de transformar 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184708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nomes = [u.nome for u in users if u.ativo]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por_id = {u.id: u for u in users}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unicos = {u.cidade for u in users}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Lê-se quase como português: 'o nome de cada usuário, para cada usuário, se ativo'.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COMPREHENSION ANINHADA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Achatando requisitos por categoria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184708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avaliacoes = tuple(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_avaliar(req, por_cat.get(cat, ()))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for cat, grupo in indexados.items()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for req in grupo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Dois for aninhados e uma chamada pura por item: nenhuma lista temporária mutada, nenhum índice manual.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functools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reduce, partial e lru_cache — a caixa de ferramentas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FUNCTOOLS · REDUCE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Dobrar uma sequência num único valor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432304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from functools import reduce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total = reduce(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lambda acc, n: acc + n.peso,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noticias,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0,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432304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Como pensar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Pense em: acumulador + item → novo acumulador.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sum, max e any são reduces especializados.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Comece pelo built-in; reduce para o resto.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FUNCTOOLS · PARTIAL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Fixar argumentos e nascer uma função nova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72491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from functools import partial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conectar(host, porta, tls): ...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local = partial(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conectar, "127.0.0.1", 5432)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local(tls=False)  # host e porta fixos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72491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A ideia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Especializar sem herança e sem classe.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 nova função é a antiga com parte dos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argumentos pré-preenchidos.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PARTIAL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Um parser por fonte, sem duplicar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432304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from functools import partial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parser_universitaly = partial(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parse_universidades,   # genérico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fonte="universitaly",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seletores=SELETORES,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432304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O ganho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parser genérico transforma HTML em tuplas.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Cada fonte é uma aplicação parcial.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Fonte nova não copia código.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FUNCTOOLS · LRU_CACHE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Memoização em uma linha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139696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from functools import lru_cache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@lru_cache(maxsize=256)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fib(n):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n &lt; 2: return n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fib(n-1) + fib(n-2)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139696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A pegadinha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Só é CORRETO memoizar função pura.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Cachear algo que lê o banco devolve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dado velho — vira bug de dado obsoleto.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LRU_CACHE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requisitos_por_categoria: cache seguro por desenho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184708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@lru_cache(maxsize=256)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requisitos_por_categoria(reqs):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MappingProxyType(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agrupar_por_categoria(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reqs, lambda r: r.categoria))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184708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Por que é seguro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Entrada imutável e hashável (tupla).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Função determinística, sem efeitos.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Saída imutável (MappingProxyType).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O mesmo curso é comparado por muitos alunos: indexa uma vez, não uma vez por pedido.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79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7F3EE"/>
                </a:solidFill>
                <a:latin typeface="Calibri"/>
              </a:rPr>
              <a:t>DICA PESSOAL DE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Type hints não são burocracia — são refatoração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Anote as assinaturas e deixe o mypy conferir o resto.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Caso real do projeto: o mypy recusou um reduce cujo resultado ia direto para MappingProxyType — a inferência dirigida por contexto quebrava.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 correção foi ligar o resultado a uma variável tipada antes de embrulhar.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Sem tipos, isso só apareceria em produção, com dado estranho.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Closures e decoradores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Funções que capturam ambiente e funções que envolvem funções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6 ·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Uma função que lembra do ambiente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432304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multiplicador(fator):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def aplicar(x):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x * fator   # captura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aplicar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triplo = multiplicador(3)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triplo(10)     # 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432304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A ideia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 função interna 'fecha sobre' as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variáveis de fora e as carrega consigo.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É uma fábrica de funções configuradas.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6 · DECORADORES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Uma função que envolve outra função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301752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log(funcao):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@wraps(funcao)   # preserva nome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def wrapper(*args, **kwargs):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print("chamando", funcao.__name__)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funcao(*args, **kwargs)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wrapper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@log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somar(a, b): return a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alibri"/>
              </a:rPr>
              <a:t>@log é açúcar para somar = log(somar). O decorador adiciona comportamento transversal sem tocar na função original.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DECORADOR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@cronometrar mede sem poluir a função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310128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cronometrar(funcao):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@wraps(funcao)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def wrapper(*args, **kwargs):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inicio = perf_counter()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try: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return funcao(*args, **kwargs)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finally:      # mede até se falhar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dur = perf_counter() - inicio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logger.info("%.1f ms", dur*1000)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wrapper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31012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Detalhes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@wraps mantém introspecção e docs.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finally garante a medição mesmo com erro.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Reusável em qualquer função.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FÁBRICA DE DECORADORES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retry_backoff: closure parametrizada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448056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retry_backoff(tentativas=3, base=0.5,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fator=2.0,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dormir=time.sleep):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def decorador(funcao):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@wraps(funcao)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def wrapper(*a, **kw):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for i in range(tentativas):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try: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  return funcao(*a, **kw)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except Exception: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  if i == tentativas-1: raise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     dormir(base * fator**i)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wrapper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decorador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448056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Closure + teste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Cada uso captura sua própria config.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dormir é injetado: testo o backoff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sem dormir de verdade.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Avaliação preguiçosa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Generators: produzir sob demanda, gastar memória mínima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BLOCO 7 · GENERATORS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yield: produz um de cada vez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272491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contador(n):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 = 0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while i &lt; n: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yield i        # pausa e devolve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i += 1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soma = sum(x*x for x in range(10**6))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gera sob demanda, sem criar a lista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272491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Por quê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Memória O(1): não materializa tudo.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Trabalha com fluxos infinitos.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islice consome só o necessário.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LAZY (IMPLEMENTADO)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Feed de notícias item a item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3017520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iterar_itens_rss(xml):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raiz = ElementTree.fromstring(xml)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for item in raiz.iterfind("channel/item"):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yield {...}   # um por vez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paginar(itens, pagina, por_pagina):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inicio = (pagina - 1) * por_pagina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tuple(islice(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itens, inicio, inicio + por_pagina))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301752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Na prática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Result do SQLAlchemy também é lazy.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Um teste pagina itertools.count() —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iterável INFINITO — e termina.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feed que os generators alimentam</a:t>
            </a:r>
          </a:p>
        </p:txBody>
      </p:sp>
      <p:pic>
        <p:nvPicPr>
          <p:cNvPr id="5" name="Picture 4" descr="06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111 notícias coletadas de 3 fontes. A página mostra 10: paginar() consome só as linhas pedidas, o resto nunca vira objeto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Recursão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Um problema definido em termos de si mesmo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RECURSÃO (IMPLEMENTADO)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A árvore de categorias do 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418795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todas_perguntas(categoria):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categoria.perguntas + tuple(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p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sub in categoria.subcategorias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p in todas_perguntas(sub)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profundidade(categoria):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not categoria.subcategorias: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return 1      # CASO BASE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1 + max(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profundidade(s)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s in categoria.subcategorias)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418795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Caso base + passo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A estrutura é recursiva por natureza.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Sem TCO: limite de ~1000 frames.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O FAQ real tem 3 níveis — folga enorme.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A recursão renderizada na tela</a:t>
            </a:r>
          </a:p>
        </p:txBody>
      </p:sp>
      <p:pic>
        <p:nvPicPr>
          <p:cNvPr id="5" name="Picture 4" descr="10-aj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'Vistos e permanência' mostra 5 perguntas: 1 própria + 4 das subcategorias. Esse número vem de contar_perguntas() descendo a árvore inteira.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NO PROJETO · PRIMEIRA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Um dicionário de funções, três fontes coletando</a:t>
            </a:r>
          </a:p>
        </p:txBody>
      </p:sp>
      <p:pic>
        <p:nvPicPr>
          <p:cNvPr id="5" name="Picture 4" descr="07-radar-filtro-vis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O filtro por categoria é o mesmo `filter` do pipeline. Cada fonte no registry PARSERS é uma linha — o código de coleta nunca muda.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Estudo de caso: Ponte Italia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Onde todos os conceitos se encontram em código que roda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VISÃO GERAL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Uma plataforma real, não um exemplo de aula</a:t>
            </a:r>
          </a:p>
        </p:txBody>
      </p:sp>
      <p:pic>
        <p:nvPicPr>
          <p:cNvPr id="5" name="Picture 4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FastAPI + MySQL + Redis + worker .NET. 6 sprints, 188 testes automatizados, CI com lint, tipos e testes em todo push.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Cálculo puro no centro, efeitos nas bordas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routers/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HTTP e banco. Fazem o I/O.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2602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services/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NÚCLEO PURO: calcular_gap, curadoria, faq.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5124" y="2029968"/>
            <a:ext cx="3466490" cy="22860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scraper/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Rede e HTML. Isolado por fonte.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47"/>
                </a:solidFill>
                <a:latin typeface="Calibri"/>
              </a:rPr>
              <a:t>As bordas entregam dados imutáveis; o núcleo só calcula e devolve.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O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calcular_gap: o cálculo mais importante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6546921" cy="4187952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82880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calcular_gap(requisitos, documentos):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por_cat = agrupar_por_categoria(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documentos, lambda d: d.categoria)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aval = tuple(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_avaliar(req, por_cat.get(cat, ()))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cat, grupo in indexados.items()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for req in grupo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tri = lambda s: tuple(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i for st, i in aval if st == s)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Gap(tri("atendido"),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tri("faltando"),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       tri("vencendo"))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1321" y="2029968"/>
            <a:ext cx="4090294" cy="4187952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A5A47"/>
                </a:solidFill>
                <a:latin typeface="Georgia"/>
              </a:rPr>
              <a:t>100% pura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Tuplas congeladas entram, Gap sai.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Não conhece banco, HTTP nem relógio.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14 testes cobrem os cruzamentos.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DA FUNÇÃO PURA À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O mesmo calcular_gap que roda em 14 testes</a:t>
            </a:r>
          </a:p>
        </p:txBody>
      </p:sp>
      <p:pic>
        <p:nvPicPr>
          <p:cNvPr id="5" name="Picture 4" descr="03-perfil-cof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Entrada: 3 requisitos do curso + 2 documentos do cofre. Saída: um Gap congelado — 33% pronto, 1 atendido, 2 faltando. Zero consulta dentro da regra.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NEWSLETTER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reduce agrupando a edição do dia</a:t>
            </a:r>
          </a:p>
        </p:txBody>
      </p:sp>
      <p:pic>
        <p:nvPicPr>
          <p:cNvPr id="5" name="Picture 4" descr="13-email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237" y="2029968"/>
            <a:ext cx="6567220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agrupar_por_topico() dobra as notícias das últimas 24h nos 10 tópicos, publica na fila do Redis e o worker .NET renderiza e dispara às 9h.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Tudo isso é uma API REST documentada</a:t>
            </a:r>
          </a:p>
        </p:txBody>
      </p:sp>
      <p:pic>
        <p:nvPicPr>
          <p:cNvPr id="5" name="Picture 4" descr="12-swa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0526" y="2029968"/>
            <a:ext cx="6570643" cy="3456432"/>
          </a:xfrm>
          <a:prstGeom prst="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O Swagger sai de graça do FastAPI com Pydantic: os mesmos schemas congelados que garantem a imutabilidade descrevem o contrato.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O PROJETO ·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Cada conceito vive em código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313639"/>
          </a:xfrm>
          <a:prstGeom prst="roundRect">
            <a:avLst>
              <a:gd name="adj" fmla="val 2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Função pura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103120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calcular_gap, calcular_status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2479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Imutabilidade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462479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schemas frozen, dataclasses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8686"/>
            <a:ext cx="10911535" cy="313639"/>
          </a:xfrm>
          <a:prstGeom prst="roundRect">
            <a:avLst>
              <a:gd name="adj" fmla="val 2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21838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Primeira classe / HOF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821838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registry PARSERS, agrupar_por_categoria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181197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lambda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181197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ordenar_por_prazo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67404"/>
            <a:ext cx="10911535" cy="313639"/>
          </a:xfrm>
          <a:prstGeom prst="roundRect">
            <a:avLst>
              <a:gd name="adj" fmla="val 2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40556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540556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parser_universitaly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99915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lru_cache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899915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requisitos_por_categoria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86122"/>
            <a:ext cx="10911535" cy="313639"/>
          </a:xfrm>
          <a:prstGeom prst="roundRect">
            <a:avLst>
              <a:gd name="adj" fmla="val 2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259274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Decorador / closure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259274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@cronometrar, retry_backoff, @exigir_auth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618633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Generators / lazy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618633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iterar_itens_rss, paginar, janelas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04840"/>
            <a:ext cx="10911535" cy="313639"/>
          </a:xfrm>
          <a:prstGeom prst="roundRect">
            <a:avLst>
              <a:gd name="adj" fmla="val 2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77992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reduce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977992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estatisticas, agrupar_por_topico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37351"/>
            <a:ext cx="4023360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1A18"/>
                </a:solidFill>
                <a:latin typeface="Calibri"/>
              </a:rPr>
              <a:t>Recursão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37351"/>
            <a:ext cx="6248095" cy="313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5A47"/>
                </a:solidFill>
                <a:latin typeface="Consolas"/>
              </a:rPr>
              <a:t>todas_perguntas, montar_arvore (FAQ)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33286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47"/>
                </a:solidFill>
                <a:latin typeface="Calibri"/>
              </a:rPr>
              <a:t>16 de 16 conceitos implementados e documentados em docs/RELATORIO_FP.md.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40080"/>
            <a:ext cx="2651760" cy="384048"/>
          </a:xfrm>
          <a:prstGeom prst="roundRect">
            <a:avLst>
              <a:gd name="adj" fmla="val 6000"/>
            </a:avLst>
          </a:prstGeom>
          <a:solidFill>
            <a:srgbClr val="79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7F3EE"/>
                </a:solidFill>
                <a:latin typeface="Calibri"/>
              </a:rPr>
              <a:t>DICA PESSOAL DE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1A18"/>
                </a:solidFill>
                <a:latin typeface="Georgia"/>
              </a:rPr>
              <a:t>A armadilha do import por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from modulo import funcao congela a REFERÊNCIA no momento do import.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Bug real do projeto: o monkeypatch dos testes trocava cache.get_redis, mas a fila havia importado a função por valor — e continuou usando a original.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Resultado: a suíte de testes escrevia no Redis de verdade, sem ninguém 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1153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•  Correção: importe o MÓDULO (from app.core import cache) e chame cache.get_redis().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0" b="1" i="0">
                <a:solidFill>
                  <a:srgbClr val="79796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7F3EE"/>
                </a:solidFill>
                <a:latin typeface="Georgia"/>
              </a:rPr>
              <a:t>PF × Imperativo e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519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2D8"/>
                </a:solidFill>
                <a:latin typeface="Calibri"/>
              </a:rPr>
              <a:t>O contraste lado a lado e onde a PF não compensa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COMPARAÇÃO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O mesmo cálculo, dois mundos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Funcional — puro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78608"/>
            <a:ext cx="5318607" cy="2139696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def calcular_gap(reqs, docs):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...        # só cálculo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return Gap(...)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# testa sem banco, sem mock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2029968"/>
            <a:ext cx="5318607" cy="457200"/>
          </a:xfrm>
          <a:prstGeom prst="roundRect">
            <a:avLst>
              <a:gd name="adj" fmla="val 6000"/>
            </a:avLst>
          </a:prstGeom>
          <a:solidFill>
            <a:srgbClr val="F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C3A2E"/>
                </a:solidFill>
                <a:latin typeface="Calibri"/>
              </a:rPr>
              <a:t>Imperativo — acoplado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578608"/>
            <a:ext cx="5318607" cy="2139696"/>
          </a:xfrm>
          <a:prstGeom prst="roundRect">
            <a:avLst>
              <a:gd name="adj" fmla="val 4000"/>
            </a:avLst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reqs = sessao.execute(SQL)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for req in reqs: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docs = sessao.execute(SQL)  # N+1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if doc.status == "ok":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        # status defasado</a:t>
            </a:r>
          </a:p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0E8DE"/>
                </a:solidFill>
                <a:latin typeface="Consolas"/>
              </a:rPr>
              <a:t>        atendidos.append(req)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440680"/>
            <a:ext cx="10911535" cy="822960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A versão imperativa mistura buscar + derivar + particionar, depende de status defasado no banco e exige um MySQL de pé para cada teste.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Quando a PF NÃO compensa em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532775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Cópias em excesso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Recriar estrutura grande custa memória.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2029968"/>
            <a:ext cx="532775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Recursão profunda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Sem TCO, limite ~1000. Laço é mais seguro.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58768"/>
            <a:ext cx="532775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Legibilidade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map/filter encadeados ficam ilegíveis.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3858768"/>
            <a:ext cx="5327751" cy="160020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1A18"/>
                </a:solidFill>
                <a:latin typeface="Georgia"/>
              </a:rPr>
              <a:t>I/O é inevitável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800" b="0" i="0">
                <a:solidFill>
                  <a:srgbClr val="5A5A47"/>
                </a:solidFill>
                <a:latin typeface="Calibri"/>
              </a:rPr>
              <a:t>O objetivo é isolar, não fingir que não existe.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BOAS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Como aplicar isso sem exagero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Separe o cálculo do I/O: núcleo puro, efeitos nas bordas.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88336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Dados que atravessam funções: prefira imutáveis (tuple, frozen).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46704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Funções pequenas e nomeadas; lambda só inline.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05072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Só memoize (lru_cache) função pura.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Deixe ruff e mypy vigiarem tipos e estilo.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PARA LEVAR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Três frases para guardar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1 · Função pura = mesma entrada, mesma saída, sem efeitos.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88336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2 · Funções são valores: passe-as, retorne-as, componha.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46704"/>
            <a:ext cx="10911535" cy="566928"/>
          </a:xfrm>
          <a:prstGeom prst="roundRect">
            <a:avLst>
              <a:gd name="adj" fmla="val 6000"/>
            </a:avLst>
          </a:prstGeom>
          <a:solidFill>
            <a:srgbClr val="F2E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3 · Isole os efeitos nas bordas; mantenha o núcleo testável.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ca-b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467293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8229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 i="0">
                <a:solidFill>
                  <a:srgbClr val="F7F3EE"/>
                </a:solidFill>
                <a:latin typeface="Georgia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D6CEC2"/>
                </a:solidFill>
                <a:latin typeface="Calibri"/>
              </a:rPr>
              <a:t>Perguntas são bem-vindas.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7498079" cy="868680"/>
          </a:xfrm>
          <a:prstGeom prst="roundRect">
            <a:avLst>
              <a:gd name="adj" fmla="val 6000"/>
            </a:avLst>
          </a:prstGeom>
          <a:solidFill>
            <a:srgbClr val="333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FAE99"/>
                </a:solidFill>
                <a:latin typeface="Consolas"/>
              </a:rPr>
              <a:t>github.com/julianosfreitas/scrapping_italy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C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8A949C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alibri"/>
              </a:rPr>
              <a:t>CRÉDITOS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B1A18"/>
                </a:solidFill>
                <a:latin typeface="Georgia"/>
              </a:rPr>
              <a:t>Fontes e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29968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onsolas"/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29968"/>
            <a:ext cx="101800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Claude (Anthropic) — prompt: "gerar apresentação acadêmica de 1h20 sobre Programação Funcional em Python, usando o projeto Ponte Italia como estudo de caso, com slides de conceito, código e comparação imperativo × funcional".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onsolas"/>
              </a:rPr>
              <a:t>[2]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91256"/>
            <a:ext cx="10180015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Documentação oficial do Python — functools, itertools e dataclasses (docs.python.org).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3075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A5A47"/>
                </a:solidFill>
                <a:latin typeface="Consolas"/>
              </a:rPr>
              <a:t>[3]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10180015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PEP 8 — Guia de Estilo para Código Python (peps.python.org/pep-0008).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11535" cy="822960"/>
          </a:xfrm>
          <a:prstGeom prst="roundRect">
            <a:avLst>
              <a:gd name="adj" fmla="val 6000"/>
            </a:avLst>
          </a:prstGeom>
          <a:solidFill>
            <a:srgbClr val="E3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/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B1A18"/>
                </a:solidFill>
                <a:latin typeface="Calibri"/>
              </a:rPr>
              <a:t>Código, capturas de tela e dados do projeto Ponte Italia são de autoria própria (github.com/julianosfreitas/scrapping_italy).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5A47"/>
                </a:solidFill>
                <a:latin typeface="Calibri"/>
              </a:rPr>
              <a:t>Programação Funcional em Python · Juliano Freitas   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433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A5A47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